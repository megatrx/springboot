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4129" r:id="rId1"/>
  </p:sldMasterIdLst>
  <p:notesMasterIdLst>
    <p:notesMasterId r:id="rId4"/>
  </p:notesMasterIdLst>
  <p:handoutMasterIdLst>
    <p:handoutMasterId r:id="rId5"/>
  </p:handoutMasterIdLst>
  <p:sldIdLst>
    <p:sldId id="1057" r:id="rId2"/>
    <p:sldId id="1058" r:id="rId3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5" autoAdjust="0"/>
    <p:restoredTop sz="94258" autoAdjust="0"/>
  </p:normalViewPr>
  <p:slideViewPr>
    <p:cSldViewPr snapToGrid="0">
      <p:cViewPr varScale="1">
        <p:scale>
          <a:sx n="102" d="100"/>
          <a:sy n="102" d="100"/>
        </p:scale>
        <p:origin x="2100" y="114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3127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fld id="{44B68EE0-4410-487B-8EF2-AB4C8DC9B547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</a:p>
          <a:p>
            <a:pPr lvl="1">
              <a:defRPr/>
            </a:pPr>
            <a:r>
              <a:rPr lang="de-DE"/>
              <a:t>Zweite Ebene</a:t>
            </a:r>
          </a:p>
          <a:p>
            <a:pPr lvl="2">
              <a:defRPr/>
            </a:pPr>
            <a:r>
              <a:rPr lang="de-DE"/>
              <a:t>Dritte Ebene</a:t>
            </a:r>
          </a:p>
          <a:p>
            <a:pPr lvl="3">
              <a:defRPr/>
            </a:pPr>
            <a:r>
              <a:rPr lang="de-DE"/>
              <a:t>Vierte Ebene</a:t>
            </a:r>
          </a:p>
          <a:p>
            <a:pPr lvl="4">
              <a:defRPr/>
            </a:pPr>
            <a:r>
              <a:rPr lang="de-DE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fld id="{81967304-A513-47CF-AA1B-1F2A36BB6376}" type="slidenum">
              <a:rPr lang="de-DE" altLang="ko-KR"/>
              <a:pPr lvl="0"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1" preserve="1" userDrawn="1">
  <p:cSld name="1_장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030" name="TextBox 1029"/>
          <p:cNvSpPr txBox="1"/>
          <p:nvPr userDrawn="1"/>
        </p:nvSpPr>
        <p:spPr>
          <a:xfrm>
            <a:off x="2286000" y="5631831"/>
            <a:ext cx="45720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lstStyle/>
          <a:p>
            <a:pPr marL="0" lvl="0" indent="0" algn="ctr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sz="3000" b="1" i="0" u="none" strike="noStrike" kern="1200" cap="none" spc="0" normalizeH="0" baseline="0" dirty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kumimoji="0" lang="ko-KR" altLang="en-US" sz="3000" b="1" i="0" u="none" strike="noStrike" kern="1200" cap="none" spc="0" normalizeH="0" baseline="0" dirty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kumimoji="0" lang="en-US" altLang="ko-KR" sz="3000" b="1" i="0" u="none" strike="noStrike" kern="1200" cap="none" spc="0" normalizeH="0" baseline="0" dirty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kumimoji="0" lang="ko-KR" altLang="en-US" sz="3000" b="1" i="0" u="none" strike="noStrike" kern="1200" cap="none" spc="0" normalizeH="0" baseline="0" dirty="0" err="1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장제목</a:t>
            </a:r>
            <a:endParaRPr kumimoji="0" lang="ko-KR" altLang="en-US" sz="3000" b="1" i="0" u="none" strike="noStrike" kern="1200" cap="none" spc="0" normalizeH="0" baseline="0" dirty="0">
              <a:solidFill>
                <a:srgbClr val="FFFFFF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33" name="그림 103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92"/>
          <a:stretch/>
        </p:blipFill>
        <p:spPr>
          <a:xfrm>
            <a:off x="1824037" y="720247"/>
            <a:ext cx="5495925" cy="43412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목차</a:t>
            </a:r>
            <a:endParaRPr kumimoji="0" lang="ko-KR" altLang="en-US" sz="4400" b="1" spc="-150" dirty="0">
              <a:solidFill>
                <a:schemeClr val="accent6">
                  <a:lumMod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 preserve="1" userDrawn="1">
  <p:cSld name="1_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학습 목표</a:t>
            </a:r>
            <a:endParaRPr kumimoji="0" lang="ko-KR" altLang="en-US" sz="4400" b="1" spc="-150" dirty="0">
              <a:solidFill>
                <a:schemeClr val="accent6">
                  <a:lumMod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/>
              <a:buChar char="•"/>
              <a:defRPr sz="2400" b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 preserve="1" userDrawn="1">
  <p:cSld name="1_본문_1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908051"/>
            <a:ext cx="9144000" cy="0"/>
          </a:xfrm>
          <a:prstGeom prst="line">
            <a:avLst/>
          </a:prstGeom>
          <a:ln w="76200" cmpd="sng">
            <a:gradFill flip="none" rotWithShape="1">
              <a:gsLst>
                <a:gs pos="0">
                  <a:schemeClr val="accent6">
                    <a:lumMod val="50000"/>
                  </a:schemeClr>
                </a:gs>
                <a:gs pos="33000">
                  <a:schemeClr val="accent6">
                    <a:lumMod val="75000"/>
                  </a:schemeClr>
                </a:gs>
                <a:gs pos="68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/>
              <a:buChar char="n"/>
              <a:defRPr sz="18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6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4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2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4CAD6-AD65-32AA-1AF7-0B84FE669311}"/>
              </a:ext>
            </a:extLst>
          </p:cNvPr>
          <p:cNvSpPr txBox="1"/>
          <p:nvPr userDrawn="1"/>
        </p:nvSpPr>
        <p:spPr>
          <a:xfrm>
            <a:off x="8777213" y="6497960"/>
            <a:ext cx="401623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 preserve="1" userDrawn="1">
  <p:cSld name="1_본문_2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9D3222A-D61B-18D2-3D48-9AA7AB0094D1}"/>
              </a:ext>
            </a:extLst>
          </p:cNvPr>
          <p:cNvCxnSpPr>
            <a:cxnSpLocks/>
          </p:cNvCxnSpPr>
          <p:nvPr userDrawn="1"/>
        </p:nvCxnSpPr>
        <p:spPr>
          <a:xfrm>
            <a:off x="0" y="908051"/>
            <a:ext cx="9144000" cy="0"/>
          </a:xfrm>
          <a:prstGeom prst="line">
            <a:avLst/>
          </a:prstGeom>
          <a:ln w="76200" cmpd="sng">
            <a:gradFill flip="none" rotWithShape="1">
              <a:gsLst>
                <a:gs pos="0">
                  <a:schemeClr val="accent6">
                    <a:lumMod val="50000"/>
                  </a:schemeClr>
                </a:gs>
                <a:gs pos="33000">
                  <a:schemeClr val="accent6">
                    <a:lumMod val="75000"/>
                  </a:schemeClr>
                </a:gs>
                <a:gs pos="68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B2D57-E919-E268-B235-EB97A9F50500}"/>
              </a:ext>
            </a:extLst>
          </p:cNvPr>
          <p:cNvSpPr txBox="1"/>
          <p:nvPr userDrawn="1"/>
        </p:nvSpPr>
        <p:spPr>
          <a:xfrm>
            <a:off x="8768504" y="6497960"/>
            <a:ext cx="401623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6">
              <a:lumMod val="50000"/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Office 테마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3C4A7B72-6AE8-49C2-8F32-E8A725FD610D}" type="datetime1">
              <a:rPr lang="ko-KR" altLang="en-US"/>
              <a:pPr lvl="0">
                <a:defRPr/>
              </a:pPr>
              <a:t>2025-11-04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52DD98C4-AD35-4759-9571-E1AA62A00DA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</p:sldLayoutIdLst>
  <p:transition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E998-CF00-8A5E-AA3D-1678839D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55CB1-56B8-6CDB-7FAB-280E4A8E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1/2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319F1-9531-B69D-9C4E-D8119212545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47" y="845598"/>
            <a:ext cx="8825501" cy="5920961"/>
          </a:xfrm>
        </p:spPr>
        <p:txBody>
          <a:bodyPr/>
          <a:lstStyle/>
          <a:p>
            <a:r>
              <a:rPr lang="ko-KR" altLang="en-US" sz="1600" dirty="0"/>
              <a:t>실습 내용</a:t>
            </a:r>
            <a:endParaRPr lang="en-US" altLang="ko-KR" sz="1600" dirty="0"/>
          </a:p>
          <a:p>
            <a:pPr lvl="1"/>
            <a:r>
              <a:rPr lang="ko-KR" altLang="en-US" sz="1400" dirty="0"/>
              <a:t>문제</a:t>
            </a:r>
            <a:r>
              <a:rPr lang="en-US" altLang="ko-KR" sz="1400" dirty="0"/>
              <a:t>: </a:t>
            </a:r>
            <a:r>
              <a:rPr lang="ko-KR" altLang="en-US" sz="1400" dirty="0"/>
              <a:t>다국어 전환 기능 구현하기</a:t>
            </a:r>
          </a:p>
          <a:p>
            <a:pPr lvl="1"/>
            <a:r>
              <a:rPr lang="ko-KR" altLang="en-US" sz="1400" dirty="0"/>
              <a:t>스프링 부트와 </a:t>
            </a:r>
            <a:r>
              <a:rPr lang="ko-KR" altLang="en-US" sz="1400" dirty="0" err="1"/>
              <a:t>타임리프를</a:t>
            </a:r>
            <a:r>
              <a:rPr lang="ko-KR" altLang="en-US" sz="1400" dirty="0"/>
              <a:t> 사용해</a:t>
            </a:r>
            <a:r>
              <a:rPr lang="en-US" altLang="ko-KR" sz="1400" dirty="0"/>
              <a:t>,  </a:t>
            </a:r>
            <a:r>
              <a:rPr lang="ko-KR" altLang="en-US" sz="1400" dirty="0"/>
              <a:t>한글 ↔ 영어 전환이 가능한 다국어 웹 페이지를 작성하라</a:t>
            </a:r>
            <a:endParaRPr lang="en-US" altLang="ko-KR" sz="1400" dirty="0"/>
          </a:p>
          <a:p>
            <a:pPr lvl="1"/>
            <a:r>
              <a:rPr lang="ko-KR" altLang="en-US" sz="1400" dirty="0"/>
              <a:t>요구사항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작성해야 하는 파일</a:t>
            </a:r>
            <a:r>
              <a:rPr lang="en-US" altLang="ko-KR" sz="1400" dirty="0"/>
              <a:t>: 3</a:t>
            </a:r>
            <a:r>
              <a:rPr lang="ko-KR" altLang="en-US" sz="1400" dirty="0"/>
              <a:t>개의 </a:t>
            </a:r>
            <a:r>
              <a:rPr lang="en-US" altLang="ko-KR" sz="1400" dirty="0"/>
              <a:t>message </a:t>
            </a:r>
            <a:r>
              <a:rPr lang="ko-KR" altLang="en-US" sz="1400" dirty="0"/>
              <a:t>프로퍼티</a:t>
            </a:r>
            <a:r>
              <a:rPr lang="en-US" altLang="ko-KR" sz="1400" dirty="0"/>
              <a:t>, WebConfig.java, HomeControlle.java, index.html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ko-KR" altLang="en-US" sz="1400" dirty="0"/>
          </a:p>
          <a:p>
            <a:endParaRPr lang="en-US" altLang="ko-KR" sz="1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9E7D345-B6C1-6676-0AEF-27DBC4CBF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878224"/>
              </p:ext>
            </p:extLst>
          </p:nvPr>
        </p:nvGraphicFramePr>
        <p:xfrm>
          <a:off x="256852" y="2191729"/>
          <a:ext cx="6125094" cy="4145280"/>
        </p:xfrm>
        <a:graphic>
          <a:graphicData uri="http://schemas.openxmlformats.org/drawingml/2006/table">
            <a:tbl>
              <a:tblPr/>
              <a:tblGrid>
                <a:gridCol w="6125094">
                  <a:extLst>
                    <a:ext uri="{9D8B030D-6E8A-4147-A177-3AD203B41FA5}">
                      <a16:colId xmlns:a16="http://schemas.microsoft.com/office/drawing/2014/main" val="1941304929"/>
                    </a:ext>
                  </a:extLst>
                </a:gridCol>
              </a:tblGrid>
              <a:tr h="29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LocaleResolver</a:t>
                      </a:r>
                      <a:r>
                        <a:rPr lang="ko-KR" altLang="en-US" sz="1400" dirty="0"/>
                        <a:t>를 사용해 기본 언어를 </a:t>
                      </a:r>
                      <a:r>
                        <a:rPr lang="ko-KR" altLang="en-US" sz="1400" b="1" dirty="0"/>
                        <a:t>한국어</a:t>
                      </a:r>
                      <a:r>
                        <a:rPr lang="ko-KR" altLang="en-US" sz="1400" dirty="0"/>
                        <a:t>로 설정한다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   - Resolver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 err="1"/>
                        <a:t>CookieLocaleResolver</a:t>
                      </a:r>
                      <a:r>
                        <a:rPr lang="ko-KR" altLang="en-US" sz="1400" dirty="0"/>
                        <a:t>를 사용해 볼 것</a:t>
                      </a:r>
                      <a:r>
                        <a:rPr lang="en-US" altLang="ko-KR" sz="1400" dirty="0"/>
                        <a:t>      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LocaleChangeInterceptor</a:t>
                      </a:r>
                      <a:r>
                        <a:rPr lang="ko-KR" altLang="en-US" sz="1400" dirty="0"/>
                        <a:t>를 사용하여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   </a:t>
                      </a:r>
                      <a:r>
                        <a:rPr lang="en-US" altLang="ko-KR" sz="1400" dirty="0"/>
                        <a:t>- URL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?lang=</a:t>
                      </a:r>
                      <a:r>
                        <a:rPr lang="ko-KR" altLang="en-US" sz="1400" dirty="0"/>
                        <a:t> 파라미터 값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에 따라 언어를 변경한다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3. </a:t>
                      </a:r>
                      <a:r>
                        <a:rPr lang="ko-KR" altLang="en-US" sz="1400" dirty="0"/>
                        <a:t>다국어 리소스 파일은 다음과 같이 작성한다</a:t>
                      </a:r>
                      <a:r>
                        <a:rPr lang="en-US" altLang="ko-KR" sz="1400" dirty="0"/>
                        <a:t>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messages.properties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 파일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dirty="0"/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messages_ko.properties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dirty="0"/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messages_en.properties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application.properties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 예제 파일에서 제목 등 일부만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변경하고 그대로 사용하면 됨</a:t>
                      </a:r>
                      <a:endParaRPr lang="ko-KR" altLang="en-US" sz="1400" dirty="0"/>
                    </a:p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4. HTML </a:t>
                      </a:r>
                      <a:r>
                        <a:rPr lang="ko-KR" altLang="en-US" sz="1400" dirty="0"/>
                        <a:t>페이지에서 다음 메시지를 출력한다</a:t>
                      </a:r>
                      <a:r>
                        <a:rPr lang="en-US" altLang="ko-KR" sz="1400" dirty="0"/>
                        <a:t>:</a:t>
                      </a:r>
                    </a:p>
                    <a:p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#{title}</a:t>
                      </a:r>
                      <a:endParaRPr lang="ko-KR" altLang="en-US" sz="1400" dirty="0"/>
                    </a:p>
                    <a:p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문장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#{greeting}</a:t>
                      </a:r>
                      <a:endParaRPr lang="ko-KR" altLang="en-US" sz="1400" dirty="0"/>
                    </a:p>
                    <a:p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버튼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#{button.changeToKorean}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#{button.changeToEnglish}</a:t>
                      </a:r>
                      <a:endParaRPr lang="ko-KR" altLang="en-US" sz="1400" dirty="0"/>
                    </a:p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5. </a:t>
                      </a:r>
                      <a:r>
                        <a:rPr lang="ko-KR" altLang="en-US" sz="1400" dirty="0"/>
                        <a:t>버튼 클릭 시 </a:t>
                      </a:r>
                      <a:r>
                        <a:rPr lang="en-US" altLang="ko-KR" sz="1400" dirty="0"/>
                        <a:t>URL </a:t>
                      </a:r>
                      <a:r>
                        <a:rPr lang="ko-KR" altLang="en-US" sz="1400" dirty="0"/>
                        <a:t>파라미터가 바뀌며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페이지 언어가 변경되어야 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84448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E1809778-8CDF-DAF6-36D7-3B18AB448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086" y="2320368"/>
            <a:ext cx="2991267" cy="28960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4355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E8D8-03FA-C30B-B6B3-23CC1085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6A997-83AB-D395-B071-0AEA1524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2/2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9B52DA-473E-1E64-88F7-B6350ADFB7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47" y="845598"/>
            <a:ext cx="8825501" cy="5920961"/>
          </a:xfrm>
        </p:spPr>
        <p:txBody>
          <a:bodyPr/>
          <a:lstStyle/>
          <a:p>
            <a:r>
              <a:rPr lang="ko-KR" altLang="en-US" sz="1600" dirty="0"/>
              <a:t>실습 내용</a:t>
            </a:r>
            <a:endParaRPr lang="en-US" altLang="ko-KR" sz="1600" dirty="0"/>
          </a:p>
          <a:p>
            <a:pPr lvl="1"/>
            <a:r>
              <a:rPr lang="en-US" altLang="ko-KR" sz="1400" dirty="0"/>
              <a:t>WebConfig.java</a:t>
            </a:r>
            <a:r>
              <a:rPr lang="ko-KR" altLang="en-US" sz="1400" dirty="0"/>
              <a:t>는 </a:t>
            </a:r>
            <a:r>
              <a:rPr lang="en-US" altLang="ko-KR" sz="1400" dirty="0"/>
              <a:t>resolver </a:t>
            </a:r>
            <a:r>
              <a:rPr lang="ko-KR" altLang="en-US" sz="1400" dirty="0"/>
              <a:t>외에는 </a:t>
            </a:r>
            <a:r>
              <a:rPr lang="en-US" altLang="ko-KR" sz="1400" dirty="0"/>
              <a:t>MessageConfig.java</a:t>
            </a:r>
            <a:r>
              <a:rPr lang="ko-KR" altLang="en-US" sz="1400" dirty="0"/>
              <a:t>와 거의 유사함</a:t>
            </a:r>
          </a:p>
          <a:p>
            <a:pPr lvl="1"/>
            <a:r>
              <a:rPr lang="en-US" altLang="ko-KR" sz="1400" dirty="0"/>
              <a:t>HomeController.java</a:t>
            </a:r>
            <a:r>
              <a:rPr lang="ko-KR" altLang="en-US" sz="1400" dirty="0"/>
              <a:t>는 </a:t>
            </a:r>
            <a:r>
              <a:rPr lang="en-US" altLang="ko-KR" sz="1400" dirty="0"/>
              <a:t>localhost:8080 </a:t>
            </a:r>
            <a:r>
              <a:rPr lang="ko-KR" altLang="en-US" sz="1400" dirty="0"/>
              <a:t>에 매핑하여 </a:t>
            </a:r>
            <a:r>
              <a:rPr lang="en-US" altLang="ko-KR" sz="1400" dirty="0"/>
              <a:t>index.html</a:t>
            </a:r>
            <a:r>
              <a:rPr lang="ko-KR" altLang="en-US" sz="1400" dirty="0"/>
              <a:t>을 반환하도록 구현할 것</a:t>
            </a:r>
            <a:endParaRPr lang="en-US" altLang="ko-KR" sz="1400" dirty="0"/>
          </a:p>
          <a:p>
            <a:pPr lvl="1"/>
            <a:r>
              <a:rPr lang="ko-KR" altLang="en-US" sz="1400" dirty="0"/>
              <a:t>실행 결과</a:t>
            </a:r>
            <a:endParaRPr lang="en-US" altLang="ko-KR" sz="1400" dirty="0"/>
          </a:p>
          <a:p>
            <a:pPr lvl="2"/>
            <a:r>
              <a:rPr lang="en-US" altLang="ko-KR" sz="1200" dirty="0"/>
              <a:t>http://localhost:8080/ → </a:t>
            </a:r>
            <a:r>
              <a:rPr lang="ko-KR" altLang="en-US" sz="1200" dirty="0"/>
              <a:t>한글 출력</a:t>
            </a:r>
          </a:p>
          <a:p>
            <a:pPr lvl="2"/>
            <a:r>
              <a:rPr lang="en-US" altLang="ko-KR" sz="1200" dirty="0"/>
              <a:t>http://localhost:8080/?lang=en → </a:t>
            </a:r>
            <a:r>
              <a:rPr lang="ko-KR" altLang="en-US" sz="1200" dirty="0"/>
              <a:t>영어로 변경</a:t>
            </a:r>
            <a:endParaRPr lang="en-US" altLang="ko-KR" sz="1200" dirty="0"/>
          </a:p>
          <a:p>
            <a:pPr lvl="2"/>
            <a:r>
              <a:rPr lang="ko-KR" altLang="en-US" sz="1200" dirty="0"/>
              <a:t>쿠키</a:t>
            </a:r>
            <a:r>
              <a:rPr lang="en-US" altLang="ko-KR" sz="1200" dirty="0"/>
              <a:t>(lang=</a:t>
            </a:r>
            <a:r>
              <a:rPr lang="en-US" altLang="ko-KR" sz="1200" dirty="0" err="1"/>
              <a:t>en</a:t>
            </a:r>
            <a:r>
              <a:rPr lang="en-US" altLang="ko-KR" sz="1200" dirty="0"/>
              <a:t>)</a:t>
            </a:r>
            <a:r>
              <a:rPr lang="ko-KR" altLang="en-US" sz="1200" dirty="0"/>
              <a:t>가 저장되어 </a:t>
            </a:r>
            <a:r>
              <a:rPr lang="ko-KR" altLang="en-US" sz="1200" dirty="0" err="1"/>
              <a:t>새로고침해도</a:t>
            </a:r>
            <a:r>
              <a:rPr lang="ko-KR" altLang="en-US" sz="1200" dirty="0"/>
              <a:t> 영어 유지됨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ko-KR" altLang="en-US" sz="1400" dirty="0"/>
          </a:p>
          <a:p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86752-38A3-3890-907D-64F9A09BA672}"/>
              </a:ext>
            </a:extLst>
          </p:cNvPr>
          <p:cNvSpPr txBox="1"/>
          <p:nvPr/>
        </p:nvSpPr>
        <p:spPr>
          <a:xfrm>
            <a:off x="47507" y="5381564"/>
            <a:ext cx="443921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messages.properties</a:t>
            </a:r>
            <a:r>
              <a:rPr lang="en-US" altLang="ko-KR" sz="1400" dirty="0"/>
              <a:t> </a:t>
            </a:r>
            <a:r>
              <a:rPr lang="ko-KR" altLang="en-US" sz="1400" dirty="0"/>
              <a:t>및 </a:t>
            </a:r>
            <a:r>
              <a:rPr lang="en-US" altLang="ko-KR" sz="1400" dirty="0" err="1"/>
              <a:t>messages_ko.properties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title=</a:t>
            </a:r>
            <a:r>
              <a:rPr lang="ko-KR" altLang="en-US" sz="1400" dirty="0"/>
              <a:t>다국어 예제</a:t>
            </a:r>
          </a:p>
          <a:p>
            <a:r>
              <a:rPr lang="en-US" altLang="ko-KR" sz="1400" dirty="0"/>
              <a:t>greeting=</a:t>
            </a:r>
            <a:r>
              <a:rPr lang="ko-KR" altLang="en-US" sz="1400" dirty="0"/>
              <a:t>안녕하세요</a:t>
            </a:r>
            <a:r>
              <a:rPr lang="en-US" altLang="ko-KR" sz="1400" dirty="0"/>
              <a:t>! </a:t>
            </a:r>
            <a:r>
              <a:rPr lang="ko-KR" altLang="en-US" sz="1400" dirty="0"/>
              <a:t>스프링 부트 다국어 예제입니다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err="1"/>
              <a:t>button.changeToKorean</a:t>
            </a:r>
            <a:r>
              <a:rPr lang="en-US" altLang="ko-KR" sz="1400" dirty="0"/>
              <a:t>=</a:t>
            </a:r>
            <a:r>
              <a:rPr lang="ko-KR" altLang="en-US" sz="1400" dirty="0"/>
              <a:t>한국어로</a:t>
            </a:r>
          </a:p>
          <a:p>
            <a:r>
              <a:rPr lang="en-US" altLang="ko-KR" sz="1400" dirty="0" err="1"/>
              <a:t>button.changeToEnglish</a:t>
            </a:r>
            <a:r>
              <a:rPr lang="en-US" altLang="ko-KR" sz="1400" dirty="0"/>
              <a:t>=</a:t>
            </a:r>
            <a:r>
              <a:rPr lang="ko-KR" altLang="en-US" sz="1400" dirty="0"/>
              <a:t>영어로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13D0F-6DDB-4D81-9E97-82EFB0F4523C}"/>
              </a:ext>
            </a:extLst>
          </p:cNvPr>
          <p:cNvSpPr txBox="1"/>
          <p:nvPr/>
        </p:nvSpPr>
        <p:spPr>
          <a:xfrm>
            <a:off x="1386401" y="5125012"/>
            <a:ext cx="1761423" cy="288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ko-KR" altLang="en-US" sz="3600" dirty="0">
                <a:sym typeface="Wingdings" panose="05000000000000000000" pitchFamily="2" charset="2"/>
              </a:rPr>
              <a:t>프로퍼티 파일</a:t>
            </a:r>
            <a:endParaRPr lang="ko-KR" alt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B2993-CFA7-9F50-FA73-2C4588C60CC3}"/>
              </a:ext>
            </a:extLst>
          </p:cNvPr>
          <p:cNvSpPr txBox="1"/>
          <p:nvPr/>
        </p:nvSpPr>
        <p:spPr>
          <a:xfrm>
            <a:off x="4681161" y="5166121"/>
            <a:ext cx="4011545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messages_en.properties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title=Multilingual Example</a:t>
            </a:r>
          </a:p>
          <a:p>
            <a:r>
              <a:rPr lang="en-US" altLang="ko-KR" sz="1400" dirty="0"/>
              <a:t>greeting=Hello! This is a Spring Boot multilingual example.</a:t>
            </a:r>
          </a:p>
          <a:p>
            <a:r>
              <a:rPr lang="en-US" altLang="ko-KR" sz="1400" dirty="0" err="1"/>
              <a:t>button.changeToKorean</a:t>
            </a:r>
            <a:r>
              <a:rPr lang="en-US" altLang="ko-KR" sz="1400" dirty="0"/>
              <a:t>=Korean</a:t>
            </a:r>
          </a:p>
          <a:p>
            <a:r>
              <a:rPr lang="en-US" altLang="ko-KR" sz="1400" dirty="0" err="1"/>
              <a:t>button.changeToEnglish</a:t>
            </a:r>
            <a:r>
              <a:rPr lang="en-US" altLang="ko-KR" sz="1400" dirty="0"/>
              <a:t>=English</a:t>
            </a:r>
            <a:endParaRPr lang="ko-KR" alt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52E394-1E67-EEDB-5F75-74F23A427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7" y="3172576"/>
            <a:ext cx="4182059" cy="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8335108-BF74-8A06-664E-B68655D0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397" y="3152733"/>
            <a:ext cx="4534533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7799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327</Words>
  <Application>Microsoft Office PowerPoint</Application>
  <PresentationFormat>화면 슬라이드 쇼(4:3)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함초롬돋움</vt:lpstr>
      <vt:lpstr>Arial</vt:lpstr>
      <vt:lpstr>Wingdings</vt:lpstr>
      <vt:lpstr>Office 테마</vt:lpstr>
      <vt:lpstr>실습 문제 1/2</vt:lpstr>
      <vt:lpstr>실습 문제 2/2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sh</dc:creator>
  <cp:lastModifiedBy>이양민</cp:lastModifiedBy>
  <cp:revision>804</cp:revision>
  <cp:lastPrinted>2025-08-13T12:21:57Z</cp:lastPrinted>
  <dcterms:created xsi:type="dcterms:W3CDTF">2007-11-27T23:54:21Z</dcterms:created>
  <dcterms:modified xsi:type="dcterms:W3CDTF">2025-11-04T09:52:22Z</dcterms:modified>
  <cp:version/>
</cp:coreProperties>
</file>